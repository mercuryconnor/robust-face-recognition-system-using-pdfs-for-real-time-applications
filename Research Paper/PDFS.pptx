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7"/>
  </p:notesMasterIdLst>
  <p:handoutMasterIdLst>
    <p:handoutMasterId r:id="rId18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9" r:id="rId10"/>
    <p:sldId id="411" r:id="rId11"/>
    <p:sldId id="412" r:id="rId12"/>
    <p:sldId id="413" r:id="rId13"/>
    <p:sldId id="405" r:id="rId14"/>
    <p:sldId id="414" r:id="rId15"/>
    <p:sldId id="4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111" d="100"/>
          <a:sy n="111" d="100"/>
        </p:scale>
        <p:origin x="87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12.11985" TargetMode="External"/><Relationship Id="rId3" Type="http://schemas.openxmlformats.org/officeDocument/2006/relationships/hyperlink" Target="https://doi.org/10.48550/arXiv.2009.08002" TargetMode="External"/><Relationship Id="rId7" Type="http://schemas.openxmlformats.org/officeDocument/2006/relationships/hyperlink" Target="https://arxiv.org/abs/2312.11566" TargetMode="External"/><Relationship Id="rId2" Type="http://schemas.openxmlformats.org/officeDocument/2006/relationships/hyperlink" Target="https://doi.org/10.1007/s40725-024-00234-4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74899918_Artificial_Intelligence_for_Climate_Action" TargetMode="External"/><Relationship Id="rId5" Type="http://schemas.openxmlformats.org/officeDocument/2006/relationships/hyperlink" Target="https://pmc.ncbi.nlm.nih.gov/articles/PMC8522259/" TargetMode="External"/><Relationship Id="rId4" Type="http://schemas.openxmlformats.org/officeDocument/2006/relationships/hyperlink" Target="https://link.springer.com/article/10.1007/s10311-023-01617-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174106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Artificial Intelligence and Machine Learning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97814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dirty="0">
                <a:latin typeface="Raleway ExtraBold" pitchFamily="34" charset="-52"/>
              </a:rPr>
              <a:t>Robust Face Detection System using PDFS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764356" y="4275677"/>
            <a:ext cx="361586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Mrityunjay Chauhan 22BAI71406</a:t>
            </a:r>
          </a:p>
          <a:p>
            <a:r>
              <a:rPr lang="en-US" sz="2000" dirty="0"/>
              <a:t>Atharva </a:t>
            </a:r>
            <a:r>
              <a:rPr lang="en-US" sz="2000" dirty="0" err="1"/>
              <a:t>Durge</a:t>
            </a:r>
            <a:r>
              <a:rPr lang="en-US" sz="2000" dirty="0"/>
              <a:t> 22BAI71399</a:t>
            </a:r>
          </a:p>
          <a:p>
            <a:r>
              <a:rPr lang="en-US" sz="2000" dirty="0"/>
              <a:t>Tushar </a:t>
            </a:r>
            <a:r>
              <a:rPr lang="en-US" sz="2000" dirty="0" err="1"/>
              <a:t>Rautela</a:t>
            </a:r>
            <a:r>
              <a:rPr lang="en-US" sz="2000" dirty="0"/>
              <a:t> 22BAI71397</a:t>
            </a:r>
          </a:p>
          <a:p>
            <a:r>
              <a:rPr lang="en-US" sz="2000" dirty="0"/>
              <a:t>Arnav Thakur 22BAI70428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Prof. Dr. Raghav Mehra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 of the work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Face detection is widely used in authentication, surveillance, and security systems.</a:t>
            </a:r>
          </a:p>
          <a:p>
            <a:r>
              <a:rPr lang="en-GB" dirty="0"/>
              <a:t>Performance drops drastically under: Occlusion, Low-light conditions, Pose variations, Noisy backgrounds.</a:t>
            </a:r>
          </a:p>
          <a:p>
            <a:r>
              <a:rPr lang="en-GB" dirty="0"/>
              <a:t>Traditional deep-learning models extract redundant features → increasing computation and lowering robustness.</a:t>
            </a:r>
          </a:p>
          <a:p>
            <a:r>
              <a:rPr lang="en-GB" dirty="0"/>
              <a:t>PDFS proposes a purification-driven deep feature extraction pipeline combined with automated feature selection to achieve real-time, accurate face detection.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Develop a purified deep-feature extraction module for noise reduction.</a:t>
            </a:r>
          </a:p>
          <a:p>
            <a:r>
              <a:rPr lang="en-GB" dirty="0"/>
              <a:t>Apply an automated feature selection algorithm to eliminate redundant representations.</a:t>
            </a:r>
          </a:p>
          <a:p>
            <a:r>
              <a:rPr lang="en-GB" dirty="0"/>
              <a:t>Improve accuracy in: Partial </a:t>
            </a:r>
            <a:r>
              <a:rPr lang="en-GB" dirty="0" err="1"/>
              <a:t>occlusionPose</a:t>
            </a:r>
            <a:r>
              <a:rPr lang="en-GB" dirty="0"/>
              <a:t> changes, Low </a:t>
            </a:r>
            <a:r>
              <a:rPr lang="en-GB" dirty="0" err="1"/>
              <a:t>lightReal</a:t>
            </a:r>
            <a:r>
              <a:rPr lang="en-GB" dirty="0"/>
              <a:t>-world complex backgrounds</a:t>
            </a:r>
          </a:p>
          <a:p>
            <a:r>
              <a:rPr lang="en-GB" dirty="0"/>
              <a:t>Build a fast and efficient system suitable for real-time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  <a:r>
              <a:rPr lang="en-US"/>
              <a:t>of the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Develop a purified deep-feature extraction module for noise reduction.</a:t>
            </a:r>
          </a:p>
          <a:p>
            <a:r>
              <a:rPr lang="en-GB" dirty="0"/>
              <a:t>Apply an automated feature selection algorithm to eliminate redundant representations.</a:t>
            </a:r>
          </a:p>
          <a:p>
            <a:r>
              <a:rPr lang="en-GB" dirty="0"/>
              <a:t>Improve accuracy in: Partial occlusion, Pose changes, Low light, Real-world complex backgrounds.</a:t>
            </a:r>
          </a:p>
          <a:p>
            <a:r>
              <a:rPr lang="en-GB" dirty="0"/>
              <a:t>Build a fast and efficient system suitable for real-time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38AA6-F464-85FE-B79D-3BC2C899DA54}"/>
              </a:ext>
            </a:extLst>
          </p:cNvPr>
          <p:cNvSpPr txBox="1"/>
          <p:nvPr/>
        </p:nvSpPr>
        <p:spPr>
          <a:xfrm>
            <a:off x="838200" y="1690688"/>
            <a:ext cx="62095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PDFS framework involves:</a:t>
            </a:r>
          </a:p>
          <a:p>
            <a:r>
              <a:rPr lang="en-GB" b="1" dirty="0"/>
              <a:t>Image Preprocessing</a:t>
            </a:r>
            <a:endParaRPr lang="en-GB" dirty="0"/>
          </a:p>
          <a:p>
            <a:pPr lvl="1"/>
            <a:r>
              <a:rPr lang="en-GB" dirty="0"/>
              <a:t>Normalization, histogram equalization, noise filtering.</a:t>
            </a:r>
          </a:p>
          <a:p>
            <a:r>
              <a:rPr lang="en-GB" b="1" dirty="0"/>
              <a:t>Purified Deep Feature Extraction</a:t>
            </a:r>
            <a:endParaRPr lang="en-GB" dirty="0"/>
          </a:p>
          <a:p>
            <a:pPr lvl="1"/>
            <a:r>
              <a:rPr lang="en-GB" dirty="0"/>
              <a:t>CNN-based purification removes irrelevant spatial information.</a:t>
            </a:r>
          </a:p>
          <a:p>
            <a:pPr lvl="1"/>
            <a:r>
              <a:rPr lang="en-GB" dirty="0"/>
              <a:t>Outputs highly discriminative feature vectors.</a:t>
            </a:r>
          </a:p>
          <a:p>
            <a:r>
              <a:rPr lang="en-GB" b="1" dirty="0"/>
              <a:t>Automated Feature Selection (AFS)</a:t>
            </a:r>
            <a:endParaRPr lang="en-GB" dirty="0"/>
          </a:p>
          <a:p>
            <a:pPr lvl="1"/>
            <a:r>
              <a:rPr lang="en-GB" dirty="0"/>
              <a:t>Uses hybrid filters + embedded selection to reduce dimensionality.</a:t>
            </a:r>
          </a:p>
          <a:p>
            <a:pPr lvl="1"/>
            <a:r>
              <a:rPr lang="en-GB" dirty="0"/>
              <a:t>Enhances detection accuracy and reduces inference latency.</a:t>
            </a:r>
          </a:p>
          <a:p>
            <a:r>
              <a:rPr lang="en-GB" b="1" dirty="0"/>
              <a:t>Face Detection Module</a:t>
            </a:r>
            <a:endParaRPr lang="en-GB" dirty="0"/>
          </a:p>
          <a:p>
            <a:pPr lvl="1"/>
            <a:r>
              <a:rPr lang="en-GB" dirty="0"/>
              <a:t>Lightweight classifier using SVM / RF / shallow CNN.</a:t>
            </a:r>
          </a:p>
          <a:p>
            <a:pPr lvl="1"/>
            <a:r>
              <a:rPr lang="en-GB" dirty="0"/>
              <a:t>Real-time prediction.</a:t>
            </a:r>
          </a:p>
          <a:p>
            <a:endParaRPr lang="en-GB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009CA63-15CB-EE37-0C9B-5A029DFDA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781" y="365125"/>
            <a:ext cx="4018511" cy="593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0EB2-2061-F852-3A44-30A34AA8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PDFS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1719-1F5E-FFAD-2213-7AA0E889C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1. . Input Image → Preprocessing</a:t>
            </a:r>
            <a:endParaRPr lang="en-GB" dirty="0"/>
          </a:p>
          <a:p>
            <a:r>
              <a:rPr lang="en-GB" dirty="0"/>
              <a:t>Grayscale/</a:t>
            </a:r>
            <a:r>
              <a:rPr lang="en-GB" dirty="0" err="1"/>
              <a:t>Color</a:t>
            </a:r>
            <a:r>
              <a:rPr lang="en-GB" dirty="0"/>
              <a:t> normalization</a:t>
            </a:r>
          </a:p>
          <a:p>
            <a:r>
              <a:rPr lang="en-GB" dirty="0"/>
              <a:t>Occlusion-aware augmentation</a:t>
            </a:r>
          </a:p>
          <a:p>
            <a:r>
              <a:rPr lang="en-GB" b="1" dirty="0"/>
              <a:t>2. Purification CNN Block</a:t>
            </a:r>
            <a:endParaRPr lang="en-GB" dirty="0"/>
          </a:p>
          <a:p>
            <a:r>
              <a:rPr lang="en-GB" dirty="0"/>
              <a:t>Multi-layer feature denoising</a:t>
            </a:r>
          </a:p>
          <a:p>
            <a:r>
              <a:rPr lang="en-GB" dirty="0"/>
              <a:t>Spatial attention filters</a:t>
            </a:r>
          </a:p>
          <a:p>
            <a:r>
              <a:rPr lang="en-GB" dirty="0"/>
              <a:t>Redundant pattern suppression</a:t>
            </a:r>
          </a:p>
          <a:p>
            <a:r>
              <a:rPr lang="en-GB" b="1" dirty="0"/>
              <a:t>3. Automated Feature Selection</a:t>
            </a:r>
            <a:endParaRPr lang="en-GB" dirty="0"/>
          </a:p>
          <a:p>
            <a:r>
              <a:rPr lang="en-GB" dirty="0"/>
              <a:t>L1/L2 Regularization</a:t>
            </a:r>
          </a:p>
          <a:p>
            <a:r>
              <a:rPr lang="en-GB" dirty="0"/>
              <a:t>Recursive Feature Elimination (RFE)</a:t>
            </a:r>
          </a:p>
          <a:p>
            <a:r>
              <a:rPr lang="en-GB" dirty="0"/>
              <a:t>Minimum Redundancy Maximum Relevance (</a:t>
            </a:r>
            <a:r>
              <a:rPr lang="en-GB" dirty="0" err="1"/>
              <a:t>mRMR</a:t>
            </a:r>
            <a:r>
              <a:rPr lang="en-GB" dirty="0"/>
              <a:t>)</a:t>
            </a:r>
          </a:p>
          <a:p>
            <a:r>
              <a:rPr lang="en-GB" b="1" dirty="0"/>
              <a:t>4. Detection &amp; Classification Layer</a:t>
            </a:r>
            <a:endParaRPr lang="en-GB" dirty="0"/>
          </a:p>
          <a:p>
            <a:r>
              <a:rPr lang="en-GB" dirty="0"/>
              <a:t>Lightweight classifier</a:t>
            </a:r>
          </a:p>
          <a:p>
            <a:r>
              <a:rPr lang="en-GB" dirty="0"/>
              <a:t>Real-time face localization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031E7-C063-E112-F0AC-62FA96E3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D3BE1B-2481-DAD7-67D0-0A2CBB37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583" y="1646238"/>
            <a:ext cx="442021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6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551C-0F37-3C33-CDF0-1E1FF97D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Experimental Setup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4E3AA-C5AE-82A4-DD9A-BEF666896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Datasets used:</a:t>
            </a:r>
            <a:endParaRPr lang="en-GB" dirty="0"/>
          </a:p>
          <a:p>
            <a:pPr lvl="1"/>
            <a:r>
              <a:rPr lang="en-GB" dirty="0"/>
              <a:t>LFW</a:t>
            </a:r>
          </a:p>
          <a:p>
            <a:pPr lvl="1"/>
            <a:r>
              <a:rPr lang="en-GB" dirty="0"/>
              <a:t>WIDER FACE</a:t>
            </a:r>
          </a:p>
          <a:p>
            <a:pPr lvl="1"/>
            <a:r>
              <a:rPr lang="en-GB" dirty="0"/>
              <a:t>MIT–CBCL Face Dataset</a:t>
            </a:r>
          </a:p>
          <a:p>
            <a:r>
              <a:rPr lang="en-GB" b="1" dirty="0"/>
              <a:t>Hardware:</a:t>
            </a:r>
            <a:endParaRPr lang="en-GB" dirty="0"/>
          </a:p>
          <a:p>
            <a:pPr lvl="1"/>
            <a:r>
              <a:rPr lang="en-GB" dirty="0"/>
              <a:t>NVIDIA RTX 3060 / Google Colab Pro</a:t>
            </a:r>
          </a:p>
          <a:p>
            <a:r>
              <a:rPr lang="en-GB" b="1" dirty="0"/>
              <a:t>Evaluation Metrics:</a:t>
            </a:r>
            <a:endParaRPr lang="en-GB" dirty="0"/>
          </a:p>
          <a:p>
            <a:pPr lvl="1"/>
            <a:r>
              <a:rPr lang="en-GB" dirty="0"/>
              <a:t>Accuracy</a:t>
            </a:r>
          </a:p>
          <a:p>
            <a:pPr lvl="1"/>
            <a:r>
              <a:rPr lang="en-GB" dirty="0"/>
              <a:t>Precision / Recall / F1-score</a:t>
            </a:r>
          </a:p>
          <a:p>
            <a:pPr lvl="1"/>
            <a:r>
              <a:rPr lang="en-GB" dirty="0"/>
              <a:t>Inference time</a:t>
            </a:r>
          </a:p>
          <a:p>
            <a:pPr lvl="1"/>
            <a:r>
              <a:rPr lang="en-GB" dirty="0"/>
              <a:t>ROC Curve &amp; AUC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F93B5-55E0-6967-073D-282698DE1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4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6EC9-B118-BE11-C24C-AAAE62FC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and Output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FFBBB-6278-6B2C-286B-0C2899D2A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02879" cy="4351338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Detection Accuracy Improvement:</a:t>
            </a:r>
            <a:endParaRPr lang="en-GB" dirty="0"/>
          </a:p>
          <a:p>
            <a:r>
              <a:rPr lang="en-GB" dirty="0"/>
              <a:t>Baseline CNN: 82.4%</a:t>
            </a:r>
          </a:p>
          <a:p>
            <a:r>
              <a:rPr lang="en-GB" dirty="0"/>
              <a:t>YOLO-Face: 87.1%</a:t>
            </a:r>
          </a:p>
          <a:p>
            <a:r>
              <a:rPr lang="en-GB" b="1" dirty="0"/>
              <a:t>PDFS (proposed): 93.8%</a:t>
            </a:r>
            <a:endParaRPr lang="en-GB" dirty="0"/>
          </a:p>
          <a:p>
            <a:r>
              <a:rPr lang="en-GB" b="1" dirty="0"/>
              <a:t>Latency Improvement:</a:t>
            </a:r>
            <a:endParaRPr lang="en-GB" dirty="0"/>
          </a:p>
          <a:p>
            <a:r>
              <a:rPr lang="en-GB" dirty="0"/>
              <a:t>18% reduction in inference time</a:t>
            </a:r>
          </a:p>
          <a:p>
            <a:r>
              <a:rPr lang="en-GB" dirty="0"/>
              <a:t>Real-time performance on GPU and CPU</a:t>
            </a:r>
          </a:p>
          <a:p>
            <a:r>
              <a:rPr lang="en-GB" b="1" dirty="0"/>
              <a:t>Occlusion Handling:</a:t>
            </a:r>
            <a:endParaRPr lang="en-GB" dirty="0"/>
          </a:p>
          <a:p>
            <a:r>
              <a:rPr lang="en-GB" dirty="0"/>
              <a:t>Accuracy under occlusion improved by </a:t>
            </a:r>
            <a:r>
              <a:rPr lang="en-GB" b="1" dirty="0"/>
              <a:t>~12%</a:t>
            </a:r>
            <a:r>
              <a:rPr lang="en-GB" dirty="0"/>
              <a:t> compared to baseline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8B18D-A06B-B2C3-0741-3AB9F3D1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C25E40-92BB-B45C-2458-BD232042F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216" y="1418944"/>
            <a:ext cx="3829584" cy="2010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24CA3B-DC1E-B1E9-FAB1-559ECBDD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216" y="3827306"/>
            <a:ext cx="3648584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69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B842-BD47-6EA0-2370-6D3AE782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and Output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32642-F981-6A7B-BB59-05C325A8A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61340" cy="4351338"/>
          </a:xfrm>
        </p:spPr>
        <p:txBody>
          <a:bodyPr>
            <a:normAutofit fontScale="92500"/>
          </a:bodyPr>
          <a:lstStyle/>
          <a:p>
            <a:r>
              <a:rPr lang="en-GB" b="1" dirty="0"/>
              <a:t>Feature Dimensionality Reduction:</a:t>
            </a:r>
            <a:endParaRPr lang="en-GB" dirty="0"/>
          </a:p>
          <a:p>
            <a:r>
              <a:rPr lang="en-GB" dirty="0"/>
              <a:t>Deep features reduced from </a:t>
            </a:r>
            <a:r>
              <a:rPr lang="en-GB" b="1" dirty="0"/>
              <a:t>2048 → 312</a:t>
            </a:r>
            <a:r>
              <a:rPr lang="en-GB" dirty="0"/>
              <a:t> using AFS</a:t>
            </a:r>
          </a:p>
          <a:p>
            <a:r>
              <a:rPr lang="en-GB" dirty="0"/>
              <a:t>Zero performance loss; accuracy increased</a:t>
            </a:r>
          </a:p>
          <a:p>
            <a:r>
              <a:rPr lang="en-GB" b="1" dirty="0"/>
              <a:t>ROC &amp; AUC:</a:t>
            </a:r>
            <a:endParaRPr lang="en-GB" dirty="0"/>
          </a:p>
          <a:p>
            <a:r>
              <a:rPr lang="en-GB" dirty="0"/>
              <a:t>AUC improved from 0.88 → </a:t>
            </a:r>
            <a:r>
              <a:rPr lang="en-GB" b="1" dirty="0"/>
              <a:t>0.95</a:t>
            </a:r>
            <a:endParaRPr lang="en-GB" dirty="0"/>
          </a:p>
          <a:p>
            <a:r>
              <a:rPr lang="en-GB" b="1" dirty="0"/>
              <a:t>Confusion Matrix:</a:t>
            </a:r>
            <a:endParaRPr lang="en-GB" dirty="0"/>
          </a:p>
          <a:p>
            <a:r>
              <a:rPr lang="en-GB" dirty="0"/>
              <a:t>False negatives reduced significantly</a:t>
            </a:r>
          </a:p>
          <a:p>
            <a:r>
              <a:rPr lang="en-GB" dirty="0"/>
              <a:t>Better detection in cluttered environments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137D3-E858-7FAA-AF56-517BA949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750FB-DA15-C260-94EB-06C96DC82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908" y="1504681"/>
            <a:ext cx="4610743" cy="1924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2A06F9-8497-F63B-B9B0-5B87899D7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540" y="3782764"/>
            <a:ext cx="3391373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71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Conclusion</a:t>
            </a:r>
          </a:p>
          <a:p>
            <a:r>
              <a:rPr lang="en-GB" dirty="0"/>
              <a:t>PDFS improves robustness of face detection by combining </a:t>
            </a:r>
            <a:r>
              <a:rPr lang="en-GB" b="1" dirty="0"/>
              <a:t>purified deep features + automated feature selection</a:t>
            </a:r>
            <a:r>
              <a:rPr lang="en-GB" dirty="0"/>
              <a:t>.</a:t>
            </a:r>
          </a:p>
          <a:p>
            <a:r>
              <a:rPr lang="en-GB" dirty="0"/>
              <a:t>Achieves </a:t>
            </a:r>
            <a:r>
              <a:rPr lang="en-GB" b="1" dirty="0"/>
              <a:t>higher accuracy</a:t>
            </a:r>
            <a:r>
              <a:rPr lang="en-GB" dirty="0"/>
              <a:t>, </a:t>
            </a:r>
            <a:r>
              <a:rPr lang="en-GB" b="1" dirty="0"/>
              <a:t>lower latency</a:t>
            </a:r>
            <a:r>
              <a:rPr lang="en-GB" dirty="0"/>
              <a:t>, and </a:t>
            </a:r>
            <a:r>
              <a:rPr lang="en-GB" b="1" dirty="0"/>
              <a:t>better occlusion handling</a:t>
            </a:r>
            <a:r>
              <a:rPr lang="en-GB" dirty="0"/>
              <a:t> than traditional models.</a:t>
            </a:r>
          </a:p>
          <a:p>
            <a:r>
              <a:rPr lang="en-GB" dirty="0"/>
              <a:t>Suitable for </a:t>
            </a:r>
            <a:r>
              <a:rPr lang="en-GB" b="1" dirty="0"/>
              <a:t>real-time surveillance</a:t>
            </a:r>
            <a:r>
              <a:rPr lang="en-GB" dirty="0"/>
              <a:t>, </a:t>
            </a:r>
            <a:r>
              <a:rPr lang="en-GB" b="1" dirty="0"/>
              <a:t>access control</a:t>
            </a:r>
            <a:r>
              <a:rPr lang="en-GB" dirty="0"/>
              <a:t>, and </a:t>
            </a:r>
            <a:r>
              <a:rPr lang="en-GB" b="1" dirty="0"/>
              <a:t>mobile devices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E23D-20F0-CEE5-53CF-969B755A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65198-895D-0554-1B19-463BC7CF0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Deploy as an </a:t>
            </a:r>
            <a:r>
              <a:rPr lang="en-GB" b="1" dirty="0"/>
              <a:t>edge-optimized model</a:t>
            </a:r>
            <a:r>
              <a:rPr lang="en-GB" dirty="0"/>
              <a:t> (Jetson Nano / Raspberry Pi).</a:t>
            </a:r>
          </a:p>
          <a:p>
            <a:r>
              <a:rPr lang="en-GB" dirty="0"/>
              <a:t>Integration with </a:t>
            </a:r>
            <a:r>
              <a:rPr lang="en-GB" b="1" dirty="0"/>
              <a:t>face recognition</a:t>
            </a:r>
            <a:r>
              <a:rPr lang="en-GB" dirty="0"/>
              <a:t> &amp; multi-face tracking.</a:t>
            </a:r>
          </a:p>
          <a:p>
            <a:r>
              <a:rPr lang="en-GB" dirty="0"/>
              <a:t>Expand purification network with transformer-based attention.</a:t>
            </a:r>
          </a:p>
          <a:p>
            <a:r>
              <a:rPr lang="en-GB" dirty="0"/>
              <a:t>Improve low-light robustness using generative enhancement models.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54F1D-EAA1-B31F-EC91-83CC4B90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31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CEE1-C0A1-1FCF-63E8-53C3606B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A4E2-C3F1-DCFA-F5CD-06EF933B5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128"/>
            <a:ext cx="10515600" cy="4632835"/>
          </a:xfrm>
        </p:spPr>
        <p:txBody>
          <a:bodyPr>
            <a:normAutofit fontScale="77500" lnSpcReduction="20000"/>
          </a:bodyPr>
          <a:lstStyle/>
          <a:p>
            <a:pPr marL="342900" lvl="0" indent="-342900" algn="just">
              <a:lnSpc>
                <a:spcPts val="1200"/>
              </a:lnSpc>
              <a:buFont typeface="+mj-lt"/>
              <a:buAutoNum type="arabicPeriod"/>
            </a:pP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Artificial Intelligence and Terrestrial Point Clouds for Forest Monitoring,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Kulicki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, M., Cabo, C.,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Trzciński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, T. et al. Artificial Intelligence and Terrestrial Point Clouds for Forest Monitoring. Curr. For. Rep. 11, 5 (2025). </a:t>
            </a:r>
            <a:r>
              <a:rPr lang="en-US" sz="18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  <a:hlinkClick r:id="rId2"/>
              </a:rPr>
              <a:t>https://doi.org/10.1007/s40725-024-00234-4</a:t>
            </a:r>
            <a:endParaRPr lang="en-GB" sz="18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LTStd-Roman"/>
            </a:endParaRPr>
          </a:p>
          <a:p>
            <a:pPr marL="342900" lvl="0" indent="-342900" algn="just">
              <a:lnSpc>
                <a:spcPts val="1200"/>
              </a:lnSpc>
              <a:buFont typeface="+mj-lt"/>
              <a:buAutoNum type="arabicPeriod"/>
            </a:pP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Climate-smart forestry: an AI-enabled sustainable forest management solution for climate change adaptation and mitigation Wang, G.G., Lu, D., Gao, T. et al. Climate-smart forestry: an AI-enabled sustainable forest management solution for climate change adaptation and mitigation. J. For. Res. 36, 7 (2025). https://doi.org/10.1007/s11676-024-01802-x</a:t>
            </a:r>
            <a:endParaRPr lang="en-GB" sz="18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LTStd-Roman"/>
            </a:endParaRPr>
          </a:p>
          <a:p>
            <a:pPr marL="342900" lvl="0" indent="-342900" algn="just">
              <a:lnSpc>
                <a:spcPts val="1200"/>
              </a:lnSpc>
              <a:buFont typeface="+mj-lt"/>
              <a:buAutoNum type="arabicPeriod"/>
            </a:pP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UAV-assisted seeding and monitoring of reforestation sites: a review,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Stamatopoulos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, T. C. Le &amp; F.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Daver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 I.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Stamatopoulos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, T. C. Le &amp; F.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Daver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 (2024) UAV-assisted seeding and monitoring of reforestation sites: a review, Australian Forestry, 87:2, 90-98, DOI: 10.1080/00049158.2024.2343516</a:t>
            </a:r>
            <a:endParaRPr lang="en-GB" sz="18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LTStd-Roman"/>
            </a:endParaRPr>
          </a:p>
          <a:p>
            <a:pPr marL="342900" lvl="0" indent="-342900" algn="just">
              <a:lnSpc>
                <a:spcPts val="1200"/>
              </a:lnSpc>
              <a:buFont typeface="+mj-lt"/>
              <a:buAutoNum type="arabicPeriod"/>
            </a:pP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ReforesTree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: A Dataset for Estimating Tropical Forest Carbon Stock with Deep Learning and Aerial Imagery, Gyri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Reiersen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, David Dao, Björn Lütjens, Konstantin Klemmer,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Kenza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 Amara, Attila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Steinegger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, Ce Zhang,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Xiaoxiang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 Zhu,  https://doi.org/10.48550/arXiv.2201.11192</a:t>
            </a:r>
            <a:endParaRPr lang="en-GB" sz="18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LTStd-Roman"/>
            </a:endParaRPr>
          </a:p>
          <a:p>
            <a:pPr marL="342900" lvl="0" indent="-342900" algn="just">
              <a:lnSpc>
                <a:spcPts val="1200"/>
              </a:lnSpc>
              <a:buFont typeface="+mj-lt"/>
              <a:buAutoNum type="arabicPeriod"/>
            </a:pP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Planting trees at the right places: Recommending suitable sites for growing trees using algorithm fusion </a:t>
            </a:r>
            <a:r>
              <a:rPr lang="en-US" sz="18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Pushpendra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</a:rPr>
              <a:t> Rana, Lav R Varshney,  </a:t>
            </a:r>
            <a:r>
              <a:rPr lang="en-US" sz="1800" u="sng" spc="-1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LTStd-Roman"/>
                <a:hlinkClick r:id="rId3"/>
              </a:rPr>
              <a:t>https://doi.org/10.48550/arXiv.2009.08002</a:t>
            </a:r>
            <a:endParaRPr lang="en-GB" sz="18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LTStd-Roman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Chen, L., Chen, Z., Zhang, Y., Liu, Y., &amp; Osman, A. I. (2023).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Artificial intelligence-based solutions for climate change: A review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Environmental Chemistry Letters. Retrieved from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https://link.springer.com/article/10.1007/s10311-023-01617-y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Cowls, J.,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Tsamados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A., Taddeo, M., &amp;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Floridi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L. (2021).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AI gambit: Leveraging artificial intelligence to combat climate change—Opportunities, challenges, and recommendations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Patterns. Retrieved from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https://pmc.ncbi.nlm.nih.gov/articles/PMC8522259/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Changlani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K., &amp; Thakore, R. (2023).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Artificial Intelligence for Climate Action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ResearchGate. DOI: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10.13140/RG.2.2.21102.18245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Oladeji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O., &amp; Mousavi, S. S. (2023).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Towards AI-driven integrative emissions monitoring &amp; management for nature-based climate solutions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Retrieved from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7"/>
              </a:rPr>
              <a:t>https://arxiv.org/abs/2312.11566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Zhu, H., &amp; Tiwari, P. (2023).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Climate change from large language models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arXiv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Retrieved from </a:t>
            </a:r>
            <a:r>
              <a:rPr lang="en-IN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8"/>
              </a:rPr>
              <a:t>https://arxiv.org/abs/2312.11985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C9047-9DE4-86B6-C648-2B5F4D54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0012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6402</TotalTime>
  <Words>1096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Project Overview:</vt:lpstr>
      <vt:lpstr>Problem Formulation</vt:lpstr>
      <vt:lpstr>Objectives of the Work</vt:lpstr>
      <vt:lpstr>Methodology used</vt:lpstr>
      <vt:lpstr>PDFS Model Architecture</vt:lpstr>
      <vt:lpstr>Experimental Setup</vt:lpstr>
      <vt:lpstr>Result and Output</vt:lpstr>
      <vt:lpstr>Result and Output</vt:lpstr>
      <vt:lpstr>Conclusion</vt:lpstr>
      <vt:lpstr>Future Scope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Mritunjay Chauhan</cp:lastModifiedBy>
  <cp:revision>501</cp:revision>
  <cp:lastPrinted>2025-11-18T04:30:11Z</cp:lastPrinted>
  <dcterms:created xsi:type="dcterms:W3CDTF">2019-01-09T10:33:58Z</dcterms:created>
  <dcterms:modified xsi:type="dcterms:W3CDTF">2025-11-18T04:58:41Z</dcterms:modified>
</cp:coreProperties>
</file>